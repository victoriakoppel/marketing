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Структура команды маркетинга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566928" y="1078992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Отделы и ФОТ · сводка по позициям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029968"/>
            <a:ext cx="868680" cy="91440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0665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804672" y="2633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чел.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874520" y="2048256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74520" y="2523744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отдела:  </a:t>
            </a:r>
            <a:pPr algn="l" indent="0" marL="0">
              <a:buNone/>
            </a:pPr>
            <a:r>
              <a:rPr lang="en-US" sz="16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15 496 844 ₸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77356" y="17373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533388" y="2029968"/>
            <a:ext cx="868680" cy="91440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6533388" y="20665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900" dirty="0"/>
          </a:p>
        </p:txBody>
      </p:sp>
      <p:sp>
        <p:nvSpPr>
          <p:cNvPr id="13" name="Text 11"/>
          <p:cNvSpPr/>
          <p:nvPr/>
        </p:nvSpPr>
        <p:spPr>
          <a:xfrm>
            <a:off x="6533388" y="26334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603236" y="2048256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коммуникации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603236" y="2523744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отдела:  </a:t>
            </a:r>
            <a:pPr algn="l" indent="0" marL="0">
              <a:buNone/>
            </a:pPr>
            <a:r>
              <a:rPr lang="en-US" sz="16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7 713 082 ₸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661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3858768"/>
            <a:ext cx="868680" cy="91440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38953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2900" dirty="0"/>
          </a:p>
        </p:txBody>
      </p:sp>
      <p:sp>
        <p:nvSpPr>
          <p:cNvPr id="19" name="Text 17"/>
          <p:cNvSpPr/>
          <p:nvPr/>
        </p:nvSpPr>
        <p:spPr>
          <a:xfrm>
            <a:off x="804672" y="44622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74520" y="3877056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Продакшн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874520" y="4352544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отдела:  </a:t>
            </a:r>
            <a:pPr algn="l" indent="0" marL="0">
              <a:buNone/>
            </a:pPr>
            <a:r>
              <a:rPr lang="en-US" sz="16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13 581 877 ₸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277356" y="3566160"/>
            <a:ext cx="5362956" cy="1508760"/>
          </a:xfrm>
          <a:prstGeom prst="roundRect">
            <a:avLst>
              <a:gd name="adj" fmla="val 4848"/>
            </a:avLst>
          </a:prstGeom>
          <a:solidFill>
            <a:srgbClr val="FFFFFF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533388" y="3858768"/>
            <a:ext cx="868680" cy="91440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533388" y="3895344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900" dirty="0"/>
          </a:p>
        </p:txBody>
      </p:sp>
      <p:sp>
        <p:nvSpPr>
          <p:cNvPr id="25" name="Text 23"/>
          <p:cNvSpPr/>
          <p:nvPr/>
        </p:nvSpPr>
        <p:spPr>
          <a:xfrm>
            <a:off x="6533388" y="44622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чел.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7603236" y="3877056"/>
            <a:ext cx="38084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Проджект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03236" y="4352544"/>
            <a:ext cx="38999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отдела:  </a:t>
            </a:r>
            <a:pPr algn="l" indent="0" marL="0">
              <a:buNone/>
            </a:pPr>
            <a:r>
              <a:rPr lang="en-US" sz="16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4 814 039 ₸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57800"/>
            <a:ext cx="11091672" cy="868680"/>
          </a:xfrm>
          <a:prstGeom prst="roundRect">
            <a:avLst>
              <a:gd name="adj" fmla="val 10526"/>
            </a:avLst>
          </a:prstGeom>
          <a:solidFill>
            <a:srgbClr val="1F3A5F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52578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Итого ФОТ · 4 отдела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879592" y="52578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41 605 842 ₸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48640" y="6382512"/>
            <a:ext cx="11091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Суммы — должностной оклад (тотал), в месяц (₸).  Источник: Excel «Должностной оклад» + оргструктура по отделам (скрины).  * — имя на позиции не определено, взята максимальная стоимость по позиции (см. последний слайд).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71232" y="21945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708392" y="292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15 496 844 ₸</a:t>
            </a:r>
            <a:endParaRPr lang="en-US" sz="1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· 14 чел. · оклады/мес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4448556" y="1060704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21708" y="1106424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Marcom · Олег С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Столярчук Олег Валерьевич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3 167 500 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76" y="1719072"/>
            <a:ext cx="0" cy="9144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03704" y="1810512"/>
            <a:ext cx="8618220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03704" y="1810512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963156" y="1810512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821924" y="1810512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56816"/>
            <a:ext cx="3493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Контент  (original · sport)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15968" y="1956816"/>
            <a:ext cx="5294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 (gen · original · sport)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976104" y="195681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3591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2615184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352" y="2660904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Promo Original · Аида 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Әлішбай Аида Шералықызы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1 247 076 ₸</a:t>
            </a:r>
            <a:endParaRPr lang="en-US" sz="945" dirty="0"/>
          </a:p>
        </p:txBody>
      </p:sp>
      <p:sp>
        <p:nvSpPr>
          <p:cNvPr id="18" name="Shape 16"/>
          <p:cNvSpPr/>
          <p:nvPr/>
        </p:nvSpPr>
        <p:spPr>
          <a:xfrm>
            <a:off x="457200" y="3639312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30352" y="3685032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Райлана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Жанибекова Райлана Нурлановна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1 000 162 ₸</a:t>
            </a:r>
            <a:endParaRPr lang="en-US" sz="945" dirty="0"/>
          </a:p>
        </p:txBody>
      </p:sp>
      <p:sp>
        <p:nvSpPr>
          <p:cNvPr id="20" name="Shape 18"/>
          <p:cNvSpPr/>
          <p:nvPr/>
        </p:nvSpPr>
        <p:spPr>
          <a:xfrm>
            <a:off x="457200" y="4663440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530352" y="4709160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Чолпон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Эркинова Чолпон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1 025 642 ₸</a:t>
            </a:r>
            <a:endParaRPr lang="en-US" sz="945" dirty="0"/>
          </a:p>
        </p:txBody>
      </p:sp>
      <p:sp>
        <p:nvSpPr>
          <p:cNvPr id="22" name="Shape 20"/>
          <p:cNvSpPr/>
          <p:nvPr/>
        </p:nvSpPr>
        <p:spPr>
          <a:xfrm>
            <a:off x="457200" y="5687568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0352" y="5733288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Аяулым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Иманбаева Аяулым Маратовна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1 000 162 ₸</a:t>
            </a:r>
            <a:endParaRPr lang="en-US" sz="945" dirty="0"/>
          </a:p>
        </p:txBody>
      </p:sp>
      <p:sp>
        <p:nvSpPr>
          <p:cNvPr id="24" name="Text 22"/>
          <p:cNvSpPr/>
          <p:nvPr/>
        </p:nvSpPr>
        <p:spPr>
          <a:xfrm>
            <a:off x="2258568" y="235915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258568" y="2615184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2331720" y="2660904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Александр К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Казачков Александр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800 000 ₸</a:t>
            </a:r>
            <a:endParaRPr lang="en-US" sz="945" dirty="0"/>
          </a:p>
        </p:txBody>
      </p:sp>
      <p:sp>
        <p:nvSpPr>
          <p:cNvPr id="27" name="Shape 25"/>
          <p:cNvSpPr/>
          <p:nvPr/>
        </p:nvSpPr>
        <p:spPr>
          <a:xfrm>
            <a:off x="2258568" y="3639312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331720" y="3685032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Promo · Яков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Сорокин Яков Андреевич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614 931 ₸</a:t>
            </a:r>
            <a:endParaRPr lang="en-US" sz="945" dirty="0"/>
          </a:p>
        </p:txBody>
      </p:sp>
      <p:sp>
        <p:nvSpPr>
          <p:cNvPr id="29" name="Shape 27"/>
          <p:cNvSpPr/>
          <p:nvPr/>
        </p:nvSpPr>
        <p:spPr>
          <a:xfrm>
            <a:off x="5728716" y="2340864"/>
            <a:ext cx="2468880" cy="676656"/>
          </a:xfrm>
          <a:prstGeom prst="roundRect">
            <a:avLst>
              <a:gd name="adj" fmla="val 8108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5801868" y="2386584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SMM · Мария</a:t>
            </a:r>
            <a:endParaRPr lang="en-US" sz="11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Коренькова Мария Николаевна</a:t>
            </a:r>
            <a:endParaRPr lang="en-US" sz="114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1 625 032 ₸</a:t>
            </a:r>
            <a:endParaRPr lang="en-US" sz="1140" dirty="0"/>
          </a:p>
        </p:txBody>
      </p:sp>
      <p:sp>
        <p:nvSpPr>
          <p:cNvPr id="31" name="Shape 29"/>
          <p:cNvSpPr/>
          <p:nvPr/>
        </p:nvSpPr>
        <p:spPr>
          <a:xfrm>
            <a:off x="6963156" y="3017520"/>
            <a:ext cx="0" cy="128016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161788" y="3145536"/>
            <a:ext cx="3602736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315968" y="30906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Originals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161788" y="3145536"/>
            <a:ext cx="0" cy="1828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315968" y="3328416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389120" y="3374136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Original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Шафкат Дария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741 193 ₸</a:t>
            </a:r>
            <a:endParaRPr lang="en-US" sz="945" dirty="0"/>
          </a:p>
        </p:txBody>
      </p:sp>
      <p:sp>
        <p:nvSpPr>
          <p:cNvPr id="37" name="Shape 35"/>
          <p:cNvSpPr/>
          <p:nvPr/>
        </p:nvSpPr>
        <p:spPr>
          <a:xfrm>
            <a:off x="4315968" y="4279392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389120" y="4325112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Original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Кулбаева Салтанат Фархатқызы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  *</a:t>
            </a:r>
            <a:endParaRPr lang="en-US" sz="945" dirty="0"/>
          </a:p>
        </p:txBody>
      </p:sp>
      <p:sp>
        <p:nvSpPr>
          <p:cNvPr id="39" name="Text 37"/>
          <p:cNvSpPr/>
          <p:nvPr/>
        </p:nvSpPr>
        <p:spPr>
          <a:xfrm>
            <a:off x="6117336" y="30906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963156" y="3145536"/>
            <a:ext cx="0" cy="1828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17336" y="3328416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90488" y="3374136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Gen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Жандильдина Сабина Канатовна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814 000 ₸</a:t>
            </a:r>
            <a:endParaRPr lang="en-US" sz="945" dirty="0"/>
          </a:p>
        </p:txBody>
      </p:sp>
      <p:sp>
        <p:nvSpPr>
          <p:cNvPr id="43" name="Text 41"/>
          <p:cNvSpPr/>
          <p:nvPr/>
        </p:nvSpPr>
        <p:spPr>
          <a:xfrm>
            <a:off x="7918704" y="3090672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8764524" y="3145536"/>
            <a:ext cx="0" cy="1828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18704" y="3328416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991856" y="3374136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Sport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Шакрат Темірлан Талғатұлы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  *</a:t>
            </a:r>
            <a:endParaRPr lang="en-US" sz="945" dirty="0"/>
          </a:p>
        </p:txBody>
      </p:sp>
      <p:sp>
        <p:nvSpPr>
          <p:cNvPr id="47" name="Shape 45"/>
          <p:cNvSpPr/>
          <p:nvPr/>
        </p:nvSpPr>
        <p:spPr>
          <a:xfrm>
            <a:off x="7918704" y="4279392"/>
            <a:ext cx="1691640" cy="859536"/>
          </a:xfrm>
          <a:prstGeom prst="roundRect">
            <a:avLst>
              <a:gd name="adj" fmla="val 638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7991856" y="4325112"/>
            <a:ext cx="15453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Telegram редактор Sport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Куричев Иван Николаевич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513 920 ₸</a:t>
            </a:r>
            <a:endParaRPr lang="en-US" sz="945" dirty="0"/>
          </a:p>
        </p:txBody>
      </p:sp>
      <p:sp>
        <p:nvSpPr>
          <p:cNvPr id="49" name="Shape 47"/>
          <p:cNvSpPr/>
          <p:nvPr/>
        </p:nvSpPr>
        <p:spPr>
          <a:xfrm>
            <a:off x="9976104" y="2340864"/>
            <a:ext cx="1691640" cy="932688"/>
          </a:xfrm>
          <a:prstGeom prst="roundRect">
            <a:avLst>
              <a:gd name="adj" fmla="val 5882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10049256" y="2386584"/>
            <a:ext cx="15453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45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manager · Аружан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2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 менеджер</a:t>
            </a:r>
            <a:endParaRPr lang="en-US" sz="945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9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1 212 314 ₸</a:t>
            </a:r>
            <a:endParaRPr lang="en-US" sz="94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Каналы коммуникации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71232" y="21945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708392" y="292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7 713 082 ₸</a:t>
            </a:r>
            <a:endParaRPr lang="en-US" sz="1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· 6 чел. · оклады/мес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991356" y="1051560"/>
            <a:ext cx="4206240" cy="731520"/>
          </a:xfrm>
          <a:prstGeom prst="roundRect">
            <a:avLst>
              <a:gd name="adj" fmla="val 7500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64508" y="1097280"/>
            <a:ext cx="4059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· Эдуард Д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каналы коммуникации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2 260 000 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76" y="1783080"/>
            <a:ext cx="0" cy="1828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02052" y="1965960"/>
            <a:ext cx="6784848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02052" y="1965960"/>
            <a:ext cx="0" cy="4114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280160" y="237744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53312" y="242316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PPC · Антон Б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PPC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1 346 342 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94476" y="1965960"/>
            <a:ext cx="0" cy="4114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72584" y="237744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745736" y="242316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 manager · Халмурад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Медиа менеджер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1 056 850 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486900" y="1965960"/>
            <a:ext cx="0" cy="41148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65008" y="237744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38160" y="242316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Внут. маркетинг · Аида Е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Внутренний маркетинг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1 058 434 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702052" y="3611880"/>
            <a:ext cx="0" cy="45720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80160" y="406908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353312" y="411480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PPC (1)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Трафик менеджер · имя н/д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1 124 000 ₸  *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094476" y="3611880"/>
            <a:ext cx="0" cy="45720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72584" y="4069080"/>
            <a:ext cx="2843784" cy="1234440"/>
          </a:xfrm>
          <a:prstGeom prst="roundRect">
            <a:avLst>
              <a:gd name="adj" fmla="val 4444"/>
            </a:avLst>
          </a:prstGeom>
          <a:solidFill>
            <a:srgbClr val="FBE4E4"/>
          </a:solidFill>
          <a:ln w="12700">
            <a:solidFill>
              <a:srgbClr val="E3B4B4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45736" y="4114800"/>
            <a:ext cx="2697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CVM (?)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CRM менеджер · планируется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  *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Продакшн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71232" y="21945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708392" y="292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13 581 877 ₸</a:t>
            </a:r>
            <a:endParaRPr lang="en-US" sz="1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· 12 чел. · оклады/мес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991356" y="1060704"/>
            <a:ext cx="4206240" cy="658368"/>
          </a:xfrm>
          <a:prstGeom prst="roundRect">
            <a:avLst>
              <a:gd name="adj" fmla="val 8333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64508" y="1106424"/>
            <a:ext cx="4059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of creative · Катерина Р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Креативный директор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2 490 895 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76" y="1719072"/>
            <a:ext cx="0" cy="9144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017520" y="1810512"/>
            <a:ext cx="6126480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17520" y="1810512"/>
            <a:ext cx="0" cy="201168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0" y="1810512"/>
            <a:ext cx="0" cy="201168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011680"/>
            <a:ext cx="4023360" cy="658368"/>
          </a:xfrm>
          <a:prstGeom prst="roundRect">
            <a:avLst>
              <a:gd name="adj" fmla="val 8333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78992" y="2057400"/>
            <a:ext cx="38770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art · Олег Н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Назаренко Олег Станиславович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1 494 981 ₸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0" y="201168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2E5C8A"/>
          </a:solidFill>
          <a:ln w="12700">
            <a:solidFill>
              <a:srgbClr val="2E5C8A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571232" y="205740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production · Александр Е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Александр Е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1 291 685 ₸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2743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498080" y="274320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E5C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Video production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17520" y="2670048"/>
            <a:ext cx="0" cy="292608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965960" y="2962656"/>
            <a:ext cx="2103120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65960" y="2962656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069080" y="2962656"/>
            <a:ext cx="0" cy="146304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05840" y="310896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1078992" y="315468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Ахметова Раушан Нұрланқызы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815 000 ₸</a:t>
            </a:r>
            <a:endParaRPr lang="en-US" sz="998" dirty="0"/>
          </a:p>
        </p:txBody>
      </p:sp>
      <p:sp>
        <p:nvSpPr>
          <p:cNvPr id="23" name="Shape 21"/>
          <p:cNvSpPr/>
          <p:nvPr/>
        </p:nvSpPr>
        <p:spPr>
          <a:xfrm>
            <a:off x="1005840" y="3895344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1078992" y="394106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 Яна Вячеславовна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940 000 ₸  *</a:t>
            </a:r>
            <a:endParaRPr lang="en-US" sz="998" dirty="0"/>
          </a:p>
        </p:txBody>
      </p:sp>
      <p:sp>
        <p:nvSpPr>
          <p:cNvPr id="25" name="Shape 23"/>
          <p:cNvSpPr/>
          <p:nvPr/>
        </p:nvSpPr>
        <p:spPr>
          <a:xfrm>
            <a:off x="1005840" y="4681728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78992" y="4727448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Спорт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Аркениязов Ильяс Юлдашевич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678 061 ₸</a:t>
            </a:r>
            <a:endParaRPr lang="en-US" sz="998" dirty="0"/>
          </a:p>
        </p:txBody>
      </p:sp>
      <p:sp>
        <p:nvSpPr>
          <p:cNvPr id="27" name="Shape 25"/>
          <p:cNvSpPr/>
          <p:nvPr/>
        </p:nvSpPr>
        <p:spPr>
          <a:xfrm>
            <a:off x="3108960" y="3108960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182112" y="3154680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940 000 ₸  *</a:t>
            </a:r>
            <a:endParaRPr lang="en-US" sz="998" dirty="0"/>
          </a:p>
        </p:txBody>
      </p:sp>
      <p:sp>
        <p:nvSpPr>
          <p:cNvPr id="29" name="Shape 27"/>
          <p:cNvSpPr/>
          <p:nvPr/>
        </p:nvSpPr>
        <p:spPr>
          <a:xfrm>
            <a:off x="3108960" y="3895344"/>
            <a:ext cx="19202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3182112" y="3941064"/>
            <a:ext cx="17739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98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76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Мкпо Майкл Жозеф</a:t>
            </a:r>
            <a:endParaRPr lang="en-US" sz="998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45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877 000 ₸</a:t>
            </a:r>
            <a:endParaRPr lang="en-US" sz="998" dirty="0"/>
          </a:p>
        </p:txBody>
      </p:sp>
      <p:sp>
        <p:nvSpPr>
          <p:cNvPr id="31" name="Shape 29"/>
          <p:cNvSpPr/>
          <p:nvPr/>
        </p:nvSpPr>
        <p:spPr>
          <a:xfrm>
            <a:off x="9144000" y="2670048"/>
            <a:ext cx="0" cy="384048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98080" y="3108960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7571232" y="3154680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Мобилограф / монтажёр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Асанов Әділ Асанұлы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1 000 162 ₸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498080" y="3895344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7571232" y="3941064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Мобилограф / монтажёр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Шаймардан Мағжан Адилұлы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751 000 ₸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7498080" y="4681728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7571232" y="4727448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Мобилограф / монтажёр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Жұмағали Әділжан Бауыржанұлы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804 324 ₸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7498080" y="5468112"/>
            <a:ext cx="3291840" cy="658368"/>
          </a:xfrm>
          <a:prstGeom prst="roundRect">
            <a:avLst>
              <a:gd name="adj" fmla="val 8333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571232" y="5513832"/>
            <a:ext cx="31455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Мобилограф / монтажёр Sport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Жанабеков Кудайберген Канатович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1 498 769 ₸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6858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Проджект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571232" y="219456"/>
            <a:ext cx="4160520" cy="749808"/>
          </a:xfrm>
          <a:prstGeom prst="roundRect">
            <a:avLst>
              <a:gd name="adj" fmla="val 12195"/>
            </a:avLst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7708392" y="292608"/>
            <a:ext cx="3886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4 814 039 ₸</a:t>
            </a:r>
            <a:endParaRPr lang="en-US" sz="1900" dirty="0"/>
          </a:p>
          <a:p>
            <a:pPr algn="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CADC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· 5 чел. · оклады/мес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3991356" y="1463040"/>
            <a:ext cx="4206240" cy="841248"/>
          </a:xfrm>
          <a:prstGeom prst="roundRect">
            <a:avLst>
              <a:gd name="adj" fmla="val 6522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064508" y="1508760"/>
            <a:ext cx="405993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· Ольга М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 project</a:t>
            </a:r>
            <a:endParaRPr lang="en-US" sz="13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1 291 685 ₸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094476" y="2304288"/>
            <a:ext cx="0" cy="758952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03679" y="3063240"/>
            <a:ext cx="8181594" cy="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03679" y="3063240"/>
            <a:ext cx="0" cy="50292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566160"/>
            <a:ext cx="2361438" cy="1554480"/>
          </a:xfrm>
          <a:prstGeom prst="roundRect">
            <a:avLst>
              <a:gd name="adj" fmla="val 3529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96112" y="3611880"/>
            <a:ext cx="22151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 · Аружан С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Проджект-менеджер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700 000 ₸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30877" y="3063240"/>
            <a:ext cx="0" cy="50292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550158" y="3566160"/>
            <a:ext cx="2361438" cy="1554480"/>
          </a:xfrm>
          <a:prstGeom prst="roundRect">
            <a:avLst>
              <a:gd name="adj" fmla="val 3529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3310" y="3611880"/>
            <a:ext cx="22151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manager · Анель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Муханова Анель Султановна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741 192 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458075" y="3063240"/>
            <a:ext cx="0" cy="50292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7356" y="3566160"/>
            <a:ext cx="2361438" cy="1554480"/>
          </a:xfrm>
          <a:prstGeom prst="roundRect">
            <a:avLst>
              <a:gd name="adj" fmla="val 3529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350508" y="3611880"/>
            <a:ext cx="22151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Спецпроекты · Марина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Гяурова Марина Якубовна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1 000 162 ₸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185273" y="3063240"/>
            <a:ext cx="0" cy="502920"/>
          </a:xfrm>
          <a:prstGeom prst="line">
            <a:avLst/>
          </a:prstGeom>
          <a:noFill/>
          <a:ln w="12700">
            <a:solidFill>
              <a:srgbClr val="C7D8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004554" y="3566160"/>
            <a:ext cx="2361438" cy="1554480"/>
          </a:xfrm>
          <a:prstGeom prst="roundRect">
            <a:avLst>
              <a:gd name="adj" fmla="val 3529"/>
            </a:avLst>
          </a:prstGeom>
          <a:solidFill>
            <a:srgbClr val="EAF1FB"/>
          </a:solidFill>
          <a:ln w="12700">
            <a:solidFill>
              <a:srgbClr val="C7D8EE"/>
            </a:solidFill>
            <a:prstDash val="solid"/>
          </a:ln>
          <a:effectLst>
            <a:outerShdw sx="100000" sy="100000" kx="0" ky="0" algn="bl" rotWithShape="0" blurRad="50800" dist="25400" dir="5400000">
              <a:srgbClr val="9AA7B4">
                <a:alpha val="2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077706" y="3611880"/>
            <a:ext cx="221513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и продакшн · Олеся М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B2B и продакшн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0F6E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1 081 000 ₸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Допущения по расчёту ФОТ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Где на позиции не указано имя (отмечено * / курсивом), взята максимальная стоимость по этой позиции из Excel — по правилу заказчика.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11091672" cy="438912"/>
          </a:xfrm>
          <a:prstGeom prst="roundRect">
            <a:avLst>
              <a:gd name="adj" fmla="val 10417"/>
            </a:avLst>
          </a:prstGeom>
          <a:solidFill>
            <a:srgbClr val="1F3A5F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4937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Позиция в оргструктуре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0" y="1508760"/>
            <a:ext cx="4023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Соответствие в Excel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71432" y="150876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(макс.)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947672"/>
            <a:ext cx="11091672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94767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Original / Gen / Sport (4 позиции)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0" y="194767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SMM менеджер — макс. из 4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71432" y="194767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96312"/>
            <a:ext cx="110916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496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Graph / Graph Спорт (3 позиции)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852160" y="249631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Дизайнер — макс. из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71432" y="249631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940 000 ₸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044952"/>
            <a:ext cx="11091672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04495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Motion (2 позиции)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04495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Видеодизайнер (Motion) — единственная ставка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71432" y="304495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877 000 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3593592"/>
            <a:ext cx="1109167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59359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PPC (1)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852160" y="359359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Трафик менеджер — макс. из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71432" y="359359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1 124 000 ₸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48640" y="4142232"/>
            <a:ext cx="11091672" cy="548640"/>
          </a:xfrm>
          <a:prstGeom prst="rect">
            <a:avLst/>
          </a:prstGeom>
          <a:solidFill>
            <a:srgbClr val="EAF1FB"/>
          </a:solidFill>
          <a:ln w="6350">
            <a:solidFill>
              <a:srgbClr val="C7D8E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414223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CVM (?) — планируемая позиция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852160" y="4142232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5B6B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CVM ≈ CRM менеджер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171432" y="41422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4530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867 456 ₸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4965192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считалось.  </a:t>
            </a:r>
            <a:pPr algn="l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A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ФОТ отдела = сумма должностных окладов (тотал) всех позиций отдела, включая руководителя. Суммы взяты из Excel; руководители и senior-роли — из отдельного блока стоимостей. Итог по 4 отделам: 41 605 842 ₸ в месяц.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2026-07-21T14:02:51Z</dcterms:created>
  <dcterms:modified xsi:type="dcterms:W3CDTF">2026-07-21T14:02:51Z</dcterms:modified>
</cp:coreProperties>
</file>