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Структура команды маркетинга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Отделы и ФОТ · сводка по позициям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299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0665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804672" y="26334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74520" y="20482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874520" y="25237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15 676 563 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7356" y="17373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33388" y="20299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6533388" y="20665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900" dirty="0"/>
          </a:p>
        </p:txBody>
      </p:sp>
      <p:sp>
        <p:nvSpPr>
          <p:cNvPr id="13" name="Text 11"/>
          <p:cNvSpPr/>
          <p:nvPr/>
        </p:nvSpPr>
        <p:spPr>
          <a:xfrm>
            <a:off x="6533388" y="26334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603236" y="20482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Каналы коммуникации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603236" y="25237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7 713 082 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" y="38587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8953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900" dirty="0"/>
          </a:p>
        </p:txBody>
      </p:sp>
      <p:sp>
        <p:nvSpPr>
          <p:cNvPr id="19" name="Text 17"/>
          <p:cNvSpPr/>
          <p:nvPr/>
        </p:nvSpPr>
        <p:spPr>
          <a:xfrm>
            <a:off x="804672" y="44622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74520" y="38770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Продакшн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874520" y="43525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12 407 047 ₸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77356" y="35661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533388" y="38587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24" name="Text 22"/>
          <p:cNvSpPr/>
          <p:nvPr/>
        </p:nvSpPr>
        <p:spPr>
          <a:xfrm>
            <a:off x="6533388" y="38953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900" dirty="0"/>
          </a:p>
        </p:txBody>
      </p:sp>
      <p:sp>
        <p:nvSpPr>
          <p:cNvPr id="25" name="Text 23"/>
          <p:cNvSpPr/>
          <p:nvPr/>
        </p:nvSpPr>
        <p:spPr>
          <a:xfrm>
            <a:off x="6533388" y="44622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603236" y="38770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Проджект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603236" y="43525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4 814 039 ₸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525780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Итого ФОТ · 4 отдела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879592" y="525780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40 610 731 ₸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548640" y="6382512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Суммы — должностной оклад (тотал), в месяц (₸).  Источник: Excel «Должностной оклад» + оргструктура по отделам (скрины).  * — имя на позиции не определено, взята максимальная стоимость по позиции (см. последний слайд).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15 676 563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14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448556" y="1060704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21708" y="1106424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Marcom · Олег С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Столярчук Олег Валерьевич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3 167 500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1719072"/>
            <a:ext cx="0" cy="9144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03704" y="1810512"/>
            <a:ext cx="8618220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03704" y="1810512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63156" y="1810512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821924" y="1810512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956816"/>
            <a:ext cx="3493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Контент  (original · sport)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315968" y="1956816"/>
            <a:ext cx="5294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 (gen · original · sport)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976104" y="195681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235915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258568" y="235915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Sport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615184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30352" y="2660904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Promo Original · Аида А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Әлішбай Аида Шералықызы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1 247 076 ₸</a:t>
            </a:r>
            <a:endParaRPr lang="en-US" sz="945" dirty="0"/>
          </a:p>
        </p:txBody>
      </p:sp>
      <p:sp>
        <p:nvSpPr>
          <p:cNvPr id="19" name="Shape 17"/>
          <p:cNvSpPr/>
          <p:nvPr/>
        </p:nvSpPr>
        <p:spPr>
          <a:xfrm>
            <a:off x="457200" y="3639312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30352" y="3685032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Райлана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Жанибекова Райлана Нурлановна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945" dirty="0"/>
          </a:p>
        </p:txBody>
      </p:sp>
      <p:sp>
        <p:nvSpPr>
          <p:cNvPr id="21" name="Shape 19"/>
          <p:cNvSpPr/>
          <p:nvPr/>
        </p:nvSpPr>
        <p:spPr>
          <a:xfrm>
            <a:off x="457200" y="4663440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30352" y="4709160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Чолпон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Эркинова Чолпон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1 025 642 ₸</a:t>
            </a:r>
            <a:endParaRPr lang="en-US" sz="945" dirty="0"/>
          </a:p>
        </p:txBody>
      </p:sp>
      <p:sp>
        <p:nvSpPr>
          <p:cNvPr id="23" name="Shape 21"/>
          <p:cNvSpPr/>
          <p:nvPr/>
        </p:nvSpPr>
        <p:spPr>
          <a:xfrm>
            <a:off x="457200" y="5687568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0352" y="5733288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Аяулым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Иманбаева Аяулым Маратовна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945" dirty="0"/>
          </a:p>
        </p:txBody>
      </p:sp>
      <p:sp>
        <p:nvSpPr>
          <p:cNvPr id="25" name="Shape 23"/>
          <p:cNvSpPr/>
          <p:nvPr/>
        </p:nvSpPr>
        <p:spPr>
          <a:xfrm>
            <a:off x="2258568" y="2615184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331720" y="2660904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Александр К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Казачков Александр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800 000 ₸</a:t>
            </a:r>
            <a:endParaRPr lang="en-US" sz="945" dirty="0"/>
          </a:p>
        </p:txBody>
      </p:sp>
      <p:sp>
        <p:nvSpPr>
          <p:cNvPr id="27" name="Shape 25"/>
          <p:cNvSpPr/>
          <p:nvPr/>
        </p:nvSpPr>
        <p:spPr>
          <a:xfrm>
            <a:off x="2258568" y="3639312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331720" y="3685032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Яков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Сорокин Яков Андреевич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614 931 ₸</a:t>
            </a:r>
            <a:endParaRPr lang="en-US" sz="945" dirty="0"/>
          </a:p>
        </p:txBody>
      </p:sp>
      <p:sp>
        <p:nvSpPr>
          <p:cNvPr id="29" name="Shape 27"/>
          <p:cNvSpPr/>
          <p:nvPr/>
        </p:nvSpPr>
        <p:spPr>
          <a:xfrm>
            <a:off x="5728716" y="2340864"/>
            <a:ext cx="2468880" cy="676656"/>
          </a:xfrm>
          <a:prstGeom prst="roundRect">
            <a:avLst>
              <a:gd name="adj" fmla="val 8108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801868" y="2386584"/>
            <a:ext cx="23225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SMM · Мария</a:t>
            </a:r>
            <a:endParaRPr lang="en-US" sz="114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Коренькова Мария Николаевна</a:t>
            </a:r>
            <a:endParaRPr lang="en-US" sz="114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1 625 032 ₸</a:t>
            </a:r>
            <a:endParaRPr lang="en-US" sz="1140" dirty="0"/>
          </a:p>
        </p:txBody>
      </p:sp>
      <p:sp>
        <p:nvSpPr>
          <p:cNvPr id="31" name="Text 29"/>
          <p:cNvSpPr/>
          <p:nvPr/>
        </p:nvSpPr>
        <p:spPr>
          <a:xfrm>
            <a:off x="4315968" y="309067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117336" y="309067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918704" y="309067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Sport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963156" y="3017520"/>
            <a:ext cx="0" cy="128016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61788" y="3145536"/>
            <a:ext cx="3602736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1788" y="3145536"/>
            <a:ext cx="0" cy="1828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63156" y="3145536"/>
            <a:ext cx="0" cy="1828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764524" y="3145536"/>
            <a:ext cx="0" cy="1828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315968" y="3328416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4389120" y="3374136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Original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· имя н/д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945" dirty="0"/>
          </a:p>
        </p:txBody>
      </p:sp>
      <p:sp>
        <p:nvSpPr>
          <p:cNvPr id="41" name="Shape 39"/>
          <p:cNvSpPr/>
          <p:nvPr/>
        </p:nvSpPr>
        <p:spPr>
          <a:xfrm>
            <a:off x="4315968" y="4279392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389120" y="4325112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Original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· имя н/д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945" dirty="0"/>
          </a:p>
        </p:txBody>
      </p:sp>
      <p:sp>
        <p:nvSpPr>
          <p:cNvPr id="43" name="Shape 41"/>
          <p:cNvSpPr/>
          <p:nvPr/>
        </p:nvSpPr>
        <p:spPr>
          <a:xfrm>
            <a:off x="6117336" y="3328416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190488" y="3374136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Gen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· имя н/д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945" dirty="0"/>
          </a:p>
        </p:txBody>
      </p:sp>
      <p:sp>
        <p:nvSpPr>
          <p:cNvPr id="45" name="Shape 43"/>
          <p:cNvSpPr/>
          <p:nvPr/>
        </p:nvSpPr>
        <p:spPr>
          <a:xfrm>
            <a:off x="7918704" y="3328416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7991856" y="3374136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Sport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· имя н/д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945" dirty="0"/>
          </a:p>
        </p:txBody>
      </p:sp>
      <p:sp>
        <p:nvSpPr>
          <p:cNvPr id="47" name="Shape 45"/>
          <p:cNvSpPr/>
          <p:nvPr/>
        </p:nvSpPr>
        <p:spPr>
          <a:xfrm>
            <a:off x="7918704" y="4279392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7991856" y="4325112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редактор Sport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Куричев Иван Николаевич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513 920 ₸</a:t>
            </a:r>
            <a:endParaRPr lang="en-US" sz="945" dirty="0"/>
          </a:p>
        </p:txBody>
      </p:sp>
      <p:sp>
        <p:nvSpPr>
          <p:cNvPr id="49" name="Shape 47"/>
          <p:cNvSpPr/>
          <p:nvPr/>
        </p:nvSpPr>
        <p:spPr>
          <a:xfrm>
            <a:off x="9976104" y="2340864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0049256" y="2386584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manager · Аружан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менеджер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1 212 314 ₸</a:t>
            </a:r>
            <a:endParaRPr lang="en-US" sz="94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Каналы коммуникации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7 713 082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6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991356" y="1051560"/>
            <a:ext cx="4206240" cy="731520"/>
          </a:xfrm>
          <a:prstGeom prst="roundRect">
            <a:avLst>
              <a:gd name="adj" fmla="val 7500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064508" y="1097280"/>
            <a:ext cx="40599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· Эдуард Д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каналы коммуникации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2 260 000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1783080"/>
            <a:ext cx="0" cy="1828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02052" y="1965960"/>
            <a:ext cx="6784848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02052" y="196596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80160" y="2377440"/>
            <a:ext cx="2843784" cy="1234440"/>
          </a:xfrm>
          <a:prstGeom prst="roundRect">
            <a:avLst>
              <a:gd name="adj" fmla="val 444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353312" y="2423160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PPC · Антон Б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PPC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1 346 342 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94476" y="196596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72584" y="2377440"/>
            <a:ext cx="2843784" cy="1234440"/>
          </a:xfrm>
          <a:prstGeom prst="roundRect">
            <a:avLst>
              <a:gd name="adj" fmla="val 444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45736" y="2423160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manager · Халмурад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Медиа менеджер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1 056 850 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486900" y="196596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65008" y="2377440"/>
            <a:ext cx="2843784" cy="1234440"/>
          </a:xfrm>
          <a:prstGeom prst="roundRect">
            <a:avLst>
              <a:gd name="adj" fmla="val 444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138160" y="2423160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Внут. маркетинг · Аида Е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Внутренний маркетинг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1 058 434 ₸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02052" y="3611880"/>
            <a:ext cx="0" cy="45720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80160" y="4069080"/>
            <a:ext cx="2843784" cy="1234440"/>
          </a:xfrm>
          <a:prstGeom prst="roundRect">
            <a:avLst>
              <a:gd name="adj" fmla="val 444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353312" y="4114800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PPC (1)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Трафик менеджер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1 124 000 ₸  *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94476" y="3611880"/>
            <a:ext cx="0" cy="45720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72584" y="4069080"/>
            <a:ext cx="2843784" cy="1234440"/>
          </a:xfrm>
          <a:prstGeom prst="roundRect">
            <a:avLst>
              <a:gd name="adj" fmla="val 4444"/>
            </a:avLst>
          </a:prstGeom>
          <a:solidFill>
            <a:srgbClr val="FBE4E4"/>
          </a:solidFill>
          <a:ln w="12700">
            <a:solidFill>
              <a:srgbClr val="E3B4B4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745736" y="4114800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CVM (?)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менеджер · планируется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Продакшн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12 407 047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11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991356" y="1060704"/>
            <a:ext cx="4206240" cy="658368"/>
          </a:xfrm>
          <a:prstGeom prst="roundRect">
            <a:avLst>
              <a:gd name="adj" fmla="val 8333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064508" y="1106424"/>
            <a:ext cx="4059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creative · Катерина Р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Креативный директор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2 490 895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1719072"/>
            <a:ext cx="0" cy="9144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17520" y="1810512"/>
            <a:ext cx="6126480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17520" y="1810512"/>
            <a:ext cx="0" cy="201168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0" y="1810512"/>
            <a:ext cx="0" cy="201168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2011680"/>
            <a:ext cx="4023360" cy="658368"/>
          </a:xfrm>
          <a:prstGeom prst="roundRect">
            <a:avLst>
              <a:gd name="adj" fmla="val 8333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78992" y="2057400"/>
            <a:ext cx="3877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art · Олег Н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Назаренко Олег Станиславович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1 494 981 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498080" y="2011680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571232" y="2057400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production · Александр Е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production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1 291 685 ₸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274320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498080" y="27432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production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17520" y="2670048"/>
            <a:ext cx="0" cy="292608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65960" y="2962656"/>
            <a:ext cx="2103120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65960" y="2962656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69080" y="2962656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3108960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078992" y="315468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Дизайнер · имя н/д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  *</a:t>
            </a:r>
            <a:endParaRPr lang="en-US" sz="998" dirty="0"/>
          </a:p>
        </p:txBody>
      </p:sp>
      <p:sp>
        <p:nvSpPr>
          <p:cNvPr id="23" name="Shape 21"/>
          <p:cNvSpPr/>
          <p:nvPr/>
        </p:nvSpPr>
        <p:spPr>
          <a:xfrm>
            <a:off x="1005840" y="3895344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078992" y="3941064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Дизайнер · имя н/д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  *</a:t>
            </a:r>
            <a:endParaRPr lang="en-US" sz="998" dirty="0"/>
          </a:p>
        </p:txBody>
      </p:sp>
      <p:sp>
        <p:nvSpPr>
          <p:cNvPr id="25" name="Shape 23"/>
          <p:cNvSpPr/>
          <p:nvPr/>
        </p:nvSpPr>
        <p:spPr>
          <a:xfrm>
            <a:off x="1005840" y="4681728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078992" y="4727448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Спорт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Дизайнер · имя н/д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  *</a:t>
            </a:r>
            <a:endParaRPr lang="en-US" sz="998" dirty="0"/>
          </a:p>
        </p:txBody>
      </p:sp>
      <p:sp>
        <p:nvSpPr>
          <p:cNvPr id="27" name="Shape 25"/>
          <p:cNvSpPr/>
          <p:nvPr/>
        </p:nvSpPr>
        <p:spPr>
          <a:xfrm>
            <a:off x="3108960" y="3108960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182112" y="315468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Motion-дизайнер · имя н/д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877 000 ₸  *</a:t>
            </a:r>
            <a:endParaRPr lang="en-US" sz="998" dirty="0"/>
          </a:p>
        </p:txBody>
      </p:sp>
      <p:sp>
        <p:nvSpPr>
          <p:cNvPr id="29" name="Shape 27"/>
          <p:cNvSpPr/>
          <p:nvPr/>
        </p:nvSpPr>
        <p:spPr>
          <a:xfrm>
            <a:off x="3108960" y="3895344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182112" y="3941064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Motion-дизайнер · имя н/д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877 000 ₸  *</a:t>
            </a:r>
            <a:endParaRPr lang="en-US" sz="998" dirty="0"/>
          </a:p>
        </p:txBody>
      </p:sp>
      <p:sp>
        <p:nvSpPr>
          <p:cNvPr id="31" name="Shape 29"/>
          <p:cNvSpPr/>
          <p:nvPr/>
        </p:nvSpPr>
        <p:spPr>
          <a:xfrm>
            <a:off x="9144000" y="2670048"/>
            <a:ext cx="0" cy="384048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98080" y="3108960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571232" y="3154680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Асанов Әділ · Originals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498080" y="3895344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571232" y="3941064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Шаймардан Мағжан · Originals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751 000 ₸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498080" y="4681728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7571232" y="4727448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Жұмағали Әділжан · Sport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804 324 ₸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Проджект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4 814 039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5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991356" y="1463040"/>
            <a:ext cx="4206240" cy="841248"/>
          </a:xfrm>
          <a:prstGeom prst="roundRect">
            <a:avLst>
              <a:gd name="adj" fmla="val 6522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064508" y="1508760"/>
            <a:ext cx="40599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· Ольга М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project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1 291 685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2304288"/>
            <a:ext cx="0" cy="758952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03679" y="3063240"/>
            <a:ext cx="8181594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03679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96112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manager · Аружан С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Проджект-менеджер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700 000 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30877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50158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23310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manager · Анель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Муханова Анель Султановна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741 192 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458075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7356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50508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Спецпроекты · Марина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Гяурова Марина Якубовна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185273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04554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077706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и продакшн · Олеся М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и продакшн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1 081 000 ₸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Допущения по расчёту ФОТ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на позиции не указано имя (отмечено * / курсивом), взята максимальная стоимость по этой позиции из Excel — по правилу заказчика.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1672" cy="438912"/>
          </a:xfrm>
          <a:prstGeom prst="roundRect">
            <a:avLst>
              <a:gd name="adj" fmla="val 10417"/>
            </a:avLst>
          </a:prstGeom>
          <a:solidFill>
            <a:srgbClr val="1F3A5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08760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Позиция в оргструктуре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852160" y="150876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в Excel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71432" y="150876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Стоимость (макс.)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947672"/>
            <a:ext cx="11091672" cy="548640"/>
          </a:xfrm>
          <a:prstGeom prst="rect">
            <a:avLst/>
          </a:prstGeom>
          <a:solidFill>
            <a:srgbClr val="EAF1FB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4767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Original / Gen / Sport (4 позиции)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852160" y="194767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— макс. из 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71432" y="19476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496312"/>
            <a:ext cx="110916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4963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/ Graph Спорт (3 позиции)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52160" y="249631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Дизайнер — макс. из 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71432" y="24963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044952"/>
            <a:ext cx="11091672" cy="548640"/>
          </a:xfrm>
          <a:prstGeom prst="rect">
            <a:avLst/>
          </a:prstGeom>
          <a:solidFill>
            <a:srgbClr val="EAF1FB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04495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 (2 позиции)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852160" y="304495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Видеодизайнер (Motion) — единственная ставка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71432" y="30449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877 000 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593592"/>
            <a:ext cx="110916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9359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PPC (1)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852160" y="359359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Трафик менеджер — макс. из 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71432" y="359359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1 124 000 ₸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142232"/>
            <a:ext cx="11091672" cy="548640"/>
          </a:xfrm>
          <a:prstGeom prst="rect">
            <a:avLst/>
          </a:prstGeom>
          <a:solidFill>
            <a:srgbClr val="EAF1FB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4223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CVM (?) — планируемая позиция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852160" y="414223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CVM ≈ CRM менеджер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171432" y="414223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496519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считалось. 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= сумма должностных окладов (тотал) всех позиций отдела, включая руководителя. Суммы взяты из Excel; руководители и senior-роли — из отдельного блока стоимостей. Итог по 4 отделам: 40 610 731 ₸ в месяц.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2026-07-21T13:28:46Z</dcterms:created>
  <dcterms:modified xsi:type="dcterms:W3CDTF">2026-07-21T13:28:46Z</dcterms:modified>
</cp:coreProperties>
</file>