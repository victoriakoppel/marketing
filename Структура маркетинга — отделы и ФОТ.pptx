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Структура команды маркетинга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6692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Отделы и ФОТ · сводка по позициям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04672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874520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874520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7356" y="17373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3388" y="20299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533388" y="20665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900" dirty="0"/>
          </a:p>
        </p:txBody>
      </p:sp>
      <p:sp>
        <p:nvSpPr>
          <p:cNvPr id="13" name="Text 11"/>
          <p:cNvSpPr/>
          <p:nvPr/>
        </p:nvSpPr>
        <p:spPr>
          <a:xfrm>
            <a:off x="6533388" y="26334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603236" y="20482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603236" y="25237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900" dirty="0"/>
          </a:p>
        </p:txBody>
      </p:sp>
      <p:sp>
        <p:nvSpPr>
          <p:cNvPr id="19" name="Text 17"/>
          <p:cNvSpPr/>
          <p:nvPr/>
        </p:nvSpPr>
        <p:spPr>
          <a:xfrm>
            <a:off x="804672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874520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15 846 637 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7356" y="3566160"/>
            <a:ext cx="5362956" cy="150876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33388" y="3858768"/>
            <a:ext cx="868680" cy="91440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533388" y="389534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900" dirty="0"/>
          </a:p>
        </p:txBody>
      </p:sp>
      <p:sp>
        <p:nvSpPr>
          <p:cNvPr id="25" name="Text 23"/>
          <p:cNvSpPr/>
          <p:nvPr/>
        </p:nvSpPr>
        <p:spPr>
          <a:xfrm>
            <a:off x="6533388" y="44622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03236" y="3877056"/>
            <a:ext cx="38084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603236" y="4352544"/>
            <a:ext cx="3899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отдела:  </a:t>
            </a:r>
            <a:pPr algn="l" indent="0" marL="0">
              <a:buNone/>
            </a:pPr>
            <a:r>
              <a:rPr lang="en-US" sz="16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F3A5F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 ФОТ · 4 отдела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5879592" y="525780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44 050 321 ₸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548640" y="6382512"/>
            <a:ext cx="110916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Суммы — должностной оклад (тотал), в месяц (₸).  Источник: Excel «Должностной оклад» + оргструктура по отделам (скрины).  * — имя на позиции не определено, взята максимальная стоимость по позиции (см. последний слайд).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15 676 563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14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005840"/>
            <a:ext cx="4206240" cy="731520"/>
          </a:xfrm>
          <a:prstGeom prst="roundRect">
            <a:avLst>
              <a:gd name="adj" fmla="val 7500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051560"/>
            <a:ext cx="40599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Marcom · Олег С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Столярчук Олег Валерьевич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3 167 500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737360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14372" y="1792224"/>
            <a:ext cx="7760208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14372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Промо / Контент  (original · sport)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0352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Promo Original · Аида 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Әлішбай Аида Шералықызы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1 247 076 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90322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30352" y="294894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Александр К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Казачков Александр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800 000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0352" y="365760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Райлана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Жанибекова Райлана Нурлановна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32054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" y="436626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Яков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Сорокин Яков Андреевич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614 931 ₸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502920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0352" y="507492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Чолпон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Эркинова Чолпон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1 025 642 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7378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30352" y="57835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· Аяулым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Иманбаева Аяулым Маратовна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094476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37304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 (gen · original · sport)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7304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10456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SMM · Мария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Коренькова Мария Николаевна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1 625 032 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337304" y="290322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410456" y="294894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37304" y="361188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410456" y="365760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Gen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337304" y="432054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410456" y="436626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337304" y="502920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410456" y="507492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7304" y="57378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410456" y="57835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Telegram редактор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Куричев Иван Николаевич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513 920 ₸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974580" y="1792224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17408" y="1847088"/>
            <a:ext cx="35143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8217408" y="2194560"/>
            <a:ext cx="3514344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290560" y="2240280"/>
            <a:ext cx="3368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manager · Аружан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1 212 314 ₸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Каналы коммуникации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7 713 082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6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1732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46304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Эдуард Д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каналы коммуникации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2 260 000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258568"/>
            <a:ext cx="0" cy="9875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82242" y="3246120"/>
            <a:ext cx="9224467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2242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035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 · Антон Б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PPC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1 346 342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788359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6331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83646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manager · Халмурад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 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1 056 850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94476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9434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142586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Внут. маркетинг · Аида Е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Внутренний маркетинг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1 058 434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400593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75550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48702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  *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10706710" y="3246120"/>
            <a:ext cx="0" cy="4114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81667" y="3657600"/>
            <a:ext cx="2050085" cy="1554480"/>
          </a:xfrm>
          <a:prstGeom prst="roundRect">
            <a:avLst>
              <a:gd name="adj" fmla="val 3529"/>
            </a:avLst>
          </a:prstGeom>
          <a:solidFill>
            <a:srgbClr val="FBE4E4"/>
          </a:solidFill>
          <a:ln w="12700">
            <a:solidFill>
              <a:srgbClr val="E3B4B4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754819" y="3703320"/>
            <a:ext cx="1903781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менеджер · планируется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  *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Продакшн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15 846 637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12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899916" y="1060704"/>
            <a:ext cx="4389120" cy="768096"/>
          </a:xfrm>
          <a:prstGeom prst="roundRect">
            <a:avLst>
              <a:gd name="adj" fmla="val 7143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973068" y="1106424"/>
            <a:ext cx="42428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creative · Катерина 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Креативный директор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2 490 895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1828800"/>
            <a:ext cx="0" cy="54864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63240" y="1883664"/>
            <a:ext cx="6062472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63240" y="1883664"/>
            <a:ext cx="0" cy="21945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25712" y="1883664"/>
            <a:ext cx="0" cy="219456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2103120"/>
            <a:ext cx="4480560" cy="731520"/>
          </a:xfrm>
          <a:prstGeom prst="roundRect">
            <a:avLst>
              <a:gd name="adj" fmla="val 75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96112" y="2148840"/>
            <a:ext cx="4334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art · Олег Н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Назаренко Олег Станиславович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1 494 981 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85432" y="2103120"/>
            <a:ext cx="4480560" cy="731520"/>
          </a:xfrm>
          <a:prstGeom prst="roundRect">
            <a:avLst>
              <a:gd name="adj" fmla="val 7500"/>
            </a:avLst>
          </a:prstGeom>
          <a:solidFill>
            <a:srgbClr val="2E5C8A"/>
          </a:solidFill>
          <a:ln w="12700">
            <a:solidFill>
              <a:srgbClr val="2E5C8A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58584" y="2148840"/>
            <a:ext cx="43342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 · Александр Е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production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63240" y="283464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017520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3063240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22960" y="3707892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753612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22960" y="4398264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" y="4443984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Спорт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  *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5088636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6112" y="5134356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22960" y="5779008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5824728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Motion-дизайнер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  *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25712" y="2834640"/>
            <a:ext cx="0" cy="18288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3017520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958584" y="3063240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85432" y="3707892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958584" y="3753612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885432" y="4398264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958584" y="4443984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85432" y="5088636"/>
            <a:ext cx="4480560" cy="621792"/>
          </a:xfrm>
          <a:prstGeom prst="roundRect">
            <a:avLst>
              <a:gd name="adj" fmla="val 8824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58584" y="5134356"/>
            <a:ext cx="433425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Sport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· имя н/д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  *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571232" y="219456"/>
            <a:ext cx="4160520" cy="749808"/>
          </a:xfrm>
          <a:prstGeom prst="roundRect">
            <a:avLst>
              <a:gd name="adj" fmla="val 12195"/>
            </a:avLst>
          </a:prstGeom>
          <a:solidFill>
            <a:srgbClr val="1F3A5F"/>
          </a:solidFill>
          <a:ln/>
        </p:spPr>
      </p:sp>
      <p:sp>
        <p:nvSpPr>
          <p:cNvPr id="4" name="Text 2"/>
          <p:cNvSpPr/>
          <p:nvPr/>
        </p:nvSpPr>
        <p:spPr>
          <a:xfrm>
            <a:off x="7708392" y="292608"/>
            <a:ext cx="3886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4 814 039 ₸</a:t>
            </a:r>
            <a:endParaRPr lang="en-US" sz="1900" dirty="0"/>
          </a:p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· 5 чел. · оклады/мес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991356" y="1463040"/>
            <a:ext cx="4206240" cy="841248"/>
          </a:xfrm>
          <a:prstGeom prst="roundRect">
            <a:avLst>
              <a:gd name="adj" fmla="val 6522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064508" y="1508760"/>
            <a:ext cx="405993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· Ольга М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project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1 291 685 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094476" y="2304288"/>
            <a:ext cx="0" cy="758952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03679" y="3063240"/>
            <a:ext cx="8181594" cy="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03679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Аружан С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Проджект-менеджер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700 000 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0877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50158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23310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manager · Анель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Муханова Анель Султановна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741 192 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58075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7356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50508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Спецпроекты · Марина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Гяурова Марина Якубовна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1 000 162 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0185273" y="3063240"/>
            <a:ext cx="0" cy="502920"/>
          </a:xfrm>
          <a:prstGeom prst="line">
            <a:avLst/>
          </a:prstGeom>
          <a:noFill/>
          <a:ln w="12700">
            <a:solidFill>
              <a:srgbClr val="C7D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04554" y="3566160"/>
            <a:ext cx="2361438" cy="1554480"/>
          </a:xfrm>
          <a:prstGeom prst="roundRect">
            <a:avLst>
              <a:gd name="adj" fmla="val 3529"/>
            </a:avLst>
          </a:prstGeom>
          <a:solidFill>
            <a:srgbClr val="EAF1FB"/>
          </a:solidFill>
          <a:ln w="12700">
            <a:solidFill>
              <a:srgbClr val="C7D8EE"/>
            </a:solidFill>
            <a:prstDash val="solid"/>
          </a:ln>
          <a:effectLst>
            <a:outerShdw sx="100000" sy="100000" kx="0" ky="0" algn="bl" rotWithShape="0" blurRad="50800" dist="25400" dir="5400000">
              <a:srgbClr val="9AA7B4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077706" y="3611880"/>
            <a:ext cx="221513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 · Олеся М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и продакшн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F6E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1 081 000 ₸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Допущения по расчёту ФОТ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на позиции не указано имя (отмечено * / курсивом), взята максимальная стоимость по этой позиции из Excel — по правилу заказчика.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91672" cy="438912"/>
          </a:xfrm>
          <a:prstGeom prst="roundRect">
            <a:avLst>
              <a:gd name="adj" fmla="val 10417"/>
            </a:avLst>
          </a:prstGeom>
          <a:solidFill>
            <a:srgbClr val="1F3A5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08760"/>
            <a:ext cx="4937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Позиция в оргструктуре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852160" y="1508760"/>
            <a:ext cx="4023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в Excel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71432" y="150876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(макс.)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4767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47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Original / Gen / Sport (4 позиции)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52160" y="19476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SMM менеджер — макс. из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71432" y="1947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49631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49631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/ Graph Спорт (3 позиции)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52160" y="249631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Дизайнер — макс. из 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71432" y="249631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940 000 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04495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04495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Motion (2 позиции)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52160" y="304495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Видеодизайнер (Motion) — единственная ставка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71432" y="30449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877 000 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59359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9359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Мобилограф / монтажёр (4 позиции)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52160" y="359359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Видеограф — макс. из 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71432" y="3593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1 498 769 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142232"/>
            <a:ext cx="11091672" cy="548640"/>
          </a:xfrm>
          <a:prstGeom prst="rect">
            <a:avLst/>
          </a:prstGeom>
          <a:solidFill>
            <a:srgbClr val="EAF1FB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422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PPC (1)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852160" y="414223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Трафик менеджер — макс. из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171432" y="414223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1 124 000 ₸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4690872"/>
            <a:ext cx="1109167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C7D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6908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(?) — планируемая позиция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852160" y="4690872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CVM ≈ CRM менеджер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171432" y="46908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867 456 ₸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48640" y="551383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считалось. 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ФОТ отдела = сумма должностных окладов (тотал) всех позиций отдела, включая руководителя. Суммы взяты из Excel; руководители и senior-роли — из отдельного блока стоимостей. Итог по 4 отделам: 44 050 321 ₸ в месяц.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2026-07-20T11:22:45Z</dcterms:created>
  <dcterms:modified xsi:type="dcterms:W3CDTF">2026-07-20T11:22:45Z</dcterms:modified>
</cp:coreProperties>
</file>