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команды маркетинга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ФОТ · сводка по позициям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74520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15 496 844 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7356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3388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533388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6533388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03236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03236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804672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11 086 553 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7356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33388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6533388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6533388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03236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03236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4 922 354 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 ФОТ · 4 отдела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79592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39 218 833 ₸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Суммы — должностной оклад (тотал), в месяц (₸).  Источник: Excel «Должностной оклад» + оргструктура по отделам (скрины).  * — имя на позиции не определено, взята максимальная стоимость по позиции (см. последний слайд).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15 496 844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14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448556" y="106070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21708" y="110642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 · Олег С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Столярчук Олег Валерьевич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3 167 500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03704" y="1810512"/>
            <a:ext cx="86182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0370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63156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2192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56816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 (original · sport)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15968" y="1956816"/>
            <a:ext cx="5294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 (gen · original · sport)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976104" y="195681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2359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61518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30352" y="266090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Promo Original · Аида 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Әлішбай Аида Шералықызы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1 247 076 ₸</a:t>
            </a:r>
            <a:endParaRPr lang="en-US" sz="945" dirty="0"/>
          </a:p>
        </p:txBody>
      </p:sp>
      <p:sp>
        <p:nvSpPr>
          <p:cNvPr id="18" name="Shape 16"/>
          <p:cNvSpPr/>
          <p:nvPr/>
        </p:nvSpPr>
        <p:spPr>
          <a:xfrm>
            <a:off x="457200" y="363931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30352" y="368503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Райлана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Жанибекова Райлана Нурлановна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0" name="Shape 18"/>
          <p:cNvSpPr/>
          <p:nvPr/>
        </p:nvSpPr>
        <p:spPr>
          <a:xfrm>
            <a:off x="457200" y="4663440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4709160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Эркинова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1 025 642 ₸</a:t>
            </a:r>
            <a:endParaRPr lang="en-US" sz="945" dirty="0"/>
          </a:p>
        </p:txBody>
      </p:sp>
      <p:sp>
        <p:nvSpPr>
          <p:cNvPr id="22" name="Shape 20"/>
          <p:cNvSpPr/>
          <p:nvPr/>
        </p:nvSpPr>
        <p:spPr>
          <a:xfrm>
            <a:off x="457200" y="5687568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0352" y="573328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Аяулым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Иманбаева Аяулым Маратовна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4" name="Text 22"/>
          <p:cNvSpPr/>
          <p:nvPr/>
        </p:nvSpPr>
        <p:spPr>
          <a:xfrm>
            <a:off x="2258568" y="2359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258568" y="261518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331720" y="266090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Александр К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Казачков Александр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800 000 ₸</a:t>
            </a:r>
            <a:endParaRPr lang="en-US" sz="945" dirty="0"/>
          </a:p>
        </p:txBody>
      </p:sp>
      <p:sp>
        <p:nvSpPr>
          <p:cNvPr id="27" name="Shape 25"/>
          <p:cNvSpPr/>
          <p:nvPr/>
        </p:nvSpPr>
        <p:spPr>
          <a:xfrm>
            <a:off x="2258568" y="363931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331720" y="368503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Яков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Сорокин Яков Андреевич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614 931 ₸</a:t>
            </a:r>
            <a:endParaRPr lang="en-US" sz="945" dirty="0"/>
          </a:p>
        </p:txBody>
      </p:sp>
      <p:sp>
        <p:nvSpPr>
          <p:cNvPr id="29" name="Shape 27"/>
          <p:cNvSpPr/>
          <p:nvPr/>
        </p:nvSpPr>
        <p:spPr>
          <a:xfrm>
            <a:off x="5728716" y="2340864"/>
            <a:ext cx="2468880" cy="676656"/>
          </a:xfrm>
          <a:prstGeom prst="roundRect">
            <a:avLst>
              <a:gd name="adj" fmla="val 8108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01868" y="2386584"/>
            <a:ext cx="23225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SMM · Мария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Коренькова Мария Николаевна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1 625 032 ₸</a:t>
            </a:r>
            <a:endParaRPr lang="en-US" sz="1140" dirty="0"/>
          </a:p>
        </p:txBody>
      </p:sp>
      <p:sp>
        <p:nvSpPr>
          <p:cNvPr id="31" name="Shape 29"/>
          <p:cNvSpPr/>
          <p:nvPr/>
        </p:nvSpPr>
        <p:spPr>
          <a:xfrm>
            <a:off x="6963156" y="3017520"/>
            <a:ext cx="0" cy="12801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61788" y="3145536"/>
            <a:ext cx="3602736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15968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61788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15968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389120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Шафкат Дария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741 193 ₸</a:t>
            </a:r>
            <a:endParaRPr lang="en-US" sz="945" dirty="0"/>
          </a:p>
        </p:txBody>
      </p:sp>
      <p:sp>
        <p:nvSpPr>
          <p:cNvPr id="37" name="Shape 35"/>
          <p:cNvSpPr/>
          <p:nvPr/>
        </p:nvSpPr>
        <p:spPr>
          <a:xfrm>
            <a:off x="4315968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389120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Кулбаева Салтанат Фархатқызы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39" name="Text 37"/>
          <p:cNvSpPr/>
          <p:nvPr/>
        </p:nvSpPr>
        <p:spPr>
          <a:xfrm>
            <a:off x="6117336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963156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17336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190488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Gen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Жандильдина Сабина Канатовна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814 000 ₸</a:t>
            </a:r>
            <a:endParaRPr lang="en-US" sz="945" dirty="0"/>
          </a:p>
        </p:txBody>
      </p:sp>
      <p:sp>
        <p:nvSpPr>
          <p:cNvPr id="43" name="Text 41"/>
          <p:cNvSpPr/>
          <p:nvPr/>
        </p:nvSpPr>
        <p:spPr>
          <a:xfrm>
            <a:off x="7918704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764524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918704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991856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Шакрат Темірлан Талғатұлы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7" name="Shape 45"/>
          <p:cNvSpPr/>
          <p:nvPr/>
        </p:nvSpPr>
        <p:spPr>
          <a:xfrm>
            <a:off x="7918704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991856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редактор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Куричев Иван Николаевич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513 920 ₸</a:t>
            </a:r>
            <a:endParaRPr lang="en-US" sz="945" dirty="0"/>
          </a:p>
        </p:txBody>
      </p:sp>
      <p:sp>
        <p:nvSpPr>
          <p:cNvPr id="49" name="Shape 47"/>
          <p:cNvSpPr/>
          <p:nvPr/>
        </p:nvSpPr>
        <p:spPr>
          <a:xfrm>
            <a:off x="9976104" y="234086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0049256" y="238658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manager · Аружан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менеджер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1 212 314 ₸</a:t>
            </a:r>
            <a:endParaRPr lang="en-US" sz="94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6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51560"/>
            <a:ext cx="4206240" cy="731520"/>
          </a:xfrm>
          <a:prstGeom prst="roundRect">
            <a:avLst>
              <a:gd name="adj" fmla="val 75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097280"/>
            <a:ext cx="4059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Эдуард Д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каналы коммуникации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2 260 000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83080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02052" y="1965960"/>
            <a:ext cx="6784848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02052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53312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 · Антон Б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1 346 342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4476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72584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45736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manager · Халмурад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1 056 850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486900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65008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38160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Внут. маркетинг · Аида Е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маркетинг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1 058 434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02052" y="3611880"/>
            <a:ext cx="0" cy="45720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80160" y="406908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53312" y="411480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  *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94476" y="3611880"/>
            <a:ext cx="0" cy="45720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72584" y="406908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FBE4E4"/>
          </a:solidFill>
          <a:ln w="12700">
            <a:solidFill>
              <a:srgbClr val="E3B4B4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45736" y="411480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менеджер · планируется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11 086 553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9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60704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106424"/>
            <a:ext cx="4059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creative · Катерина 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Креативный директор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2 490 895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1810512"/>
            <a:ext cx="612648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11680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78992" y="2057400"/>
            <a:ext cx="3877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art · Олег Н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Назаренко Олег Станиславович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1 494 981 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0" y="201168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71232" y="205740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 · 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7432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0" y="27432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production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670048"/>
            <a:ext cx="0" cy="29260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65960" y="2962656"/>
            <a:ext cx="21031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6908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7899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Ахметова Раушан Нұрланқызы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815 000 ₸</a:t>
            </a:r>
            <a:endParaRPr lang="en-US" sz="998" dirty="0"/>
          </a:p>
        </p:txBody>
      </p:sp>
      <p:sp>
        <p:nvSpPr>
          <p:cNvPr id="23" name="Shape 21"/>
          <p:cNvSpPr/>
          <p:nvPr/>
        </p:nvSpPr>
        <p:spPr>
          <a:xfrm>
            <a:off x="100584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7899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 Яна Вячеславовна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5" name="Shape 23"/>
          <p:cNvSpPr/>
          <p:nvPr/>
        </p:nvSpPr>
        <p:spPr>
          <a:xfrm>
            <a:off x="1005840" y="4681728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78992" y="4727448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Спорт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Аркениязов Ильяс Юлдашевич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678 061 ₸</a:t>
            </a:r>
            <a:endParaRPr lang="en-US" sz="998" dirty="0"/>
          </a:p>
        </p:txBody>
      </p:sp>
      <p:sp>
        <p:nvSpPr>
          <p:cNvPr id="27" name="Shape 25"/>
          <p:cNvSpPr/>
          <p:nvPr/>
        </p:nvSpPr>
        <p:spPr>
          <a:xfrm>
            <a:off x="310896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18211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Видеограф/видеомонтажер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Асанов Әділ Асанұлы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98" dirty="0"/>
          </a:p>
        </p:txBody>
      </p:sp>
      <p:sp>
        <p:nvSpPr>
          <p:cNvPr id="29" name="Shape 27"/>
          <p:cNvSpPr/>
          <p:nvPr/>
        </p:nvSpPr>
        <p:spPr>
          <a:xfrm>
            <a:off x="310896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18211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Мкпо Майкл Жозеф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998" dirty="0"/>
          </a:p>
        </p:txBody>
      </p:sp>
      <p:sp>
        <p:nvSpPr>
          <p:cNvPr id="31" name="Shape 29"/>
          <p:cNvSpPr/>
          <p:nvPr/>
        </p:nvSpPr>
        <p:spPr>
          <a:xfrm>
            <a:off x="9144000" y="2670048"/>
            <a:ext cx="0" cy="38404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310896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571232" y="315468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Жанабеков Кудайберген Канатович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4 922 354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5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6304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50876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Ольга М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project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1 400 000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304288"/>
            <a:ext cx="0" cy="7589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3679" y="3063240"/>
            <a:ext cx="8181594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679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Аружан С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Проджект-менеджер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700 000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0877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0158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23310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Анель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Муханова Анель Султановна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741 192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58075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7356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0508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Спецпроекты · Марина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Гяурова Марина Якубовна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185273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04554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77706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 · Олеся М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1 081 000 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Допущения по расчёту ФОТ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на позиции не указано имя (отмечено * / курсивом), взята максимальная стоимость по этой позиции из Excel — по правилу заказчика.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438912"/>
          </a:xfrm>
          <a:prstGeom prst="roundRect">
            <a:avLst>
              <a:gd name="adj" fmla="val 10417"/>
            </a:avLst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 в оргструктуре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852160" y="15087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в Excel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71432" y="15087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(макс.)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94767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47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 / Gen / Sport (4 позиции)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9476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— макс. из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9631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4963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/ Graph Спорт (3 позиции)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2496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— макс. из 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71432" y="24963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0449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(2 позиции)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30449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Видеодизайнер (Motion) — единственная ставка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71432" y="3044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9359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935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0" y="35935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— макс. из 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3593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14223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422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 — планируемая позиция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160" y="41422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≈ CRM менеджер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71432" y="4142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496519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считалось. 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= сумма должностных окладов (тотал) всех позиций отдела, включая руководителя. Суммы взяты из Excel; руководители и senior-роли — из отдельного блока стоимостей. Итог по 4 отделам: 39 218 833 ₸ в месяц.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2026-07-24T06:23:56Z</dcterms:created>
  <dcterms:modified xsi:type="dcterms:W3CDTF">2026-07-24T06:23:56Z</dcterms:modified>
</cp:coreProperties>
</file>